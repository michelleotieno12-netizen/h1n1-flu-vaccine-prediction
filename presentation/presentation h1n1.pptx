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Predicting H1N1 Vaccine Uptake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Machine Learning Insights for Public Health Decision-Making</a:t>
            </a:r>
          </a:p>
          <a:p>
            <a:endParaRPr/>
          </a:p>
          <a:p>
            <a:r>
              <a:t>Goal:</a:t>
            </a:r>
          </a:p>
          <a:p>
            <a:r>
              <a:t>Use survey data to understand the factors influencing vaccination</a:t>
            </a:r>
          </a:p>
          <a:p>
            <a:r>
              <a:t>and help public health organizations improve vaccination outreach.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Public Health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8106002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During the 2009 H1N1 pandemic</a:t>
            </a:r>
            <a:r>
              <a:rPr lang="en-US" dirty="0"/>
              <a:t>( swine flu)</a:t>
            </a:r>
            <a:r>
              <a:rPr dirty="0"/>
              <a:t>, vaccination was the most effective tool</a:t>
            </a:r>
          </a:p>
          <a:p>
            <a:r>
              <a:rPr dirty="0"/>
              <a:t>to control the spread of the virus.</a:t>
            </a:r>
          </a:p>
          <a:p>
            <a:endParaRPr dirty="0"/>
          </a:p>
          <a:p>
            <a:r>
              <a:rPr dirty="0"/>
              <a:t>However, many individuals chose not to vaccinate.</a:t>
            </a:r>
          </a:p>
          <a:p>
            <a:endParaRPr dirty="0"/>
          </a:p>
          <a:p>
            <a:r>
              <a:rPr dirty="0"/>
              <a:t>Public health organizations need to understand:</a:t>
            </a:r>
          </a:p>
          <a:p>
            <a:r>
              <a:rPr dirty="0"/>
              <a:t>• Why some people vaccinate</a:t>
            </a:r>
          </a:p>
          <a:p>
            <a:r>
              <a:rPr dirty="0"/>
              <a:t>• Why others hesitate</a:t>
            </a:r>
          </a:p>
          <a:p>
            <a:endParaRPr dirty="0"/>
          </a:p>
          <a:p>
            <a:r>
              <a:rPr dirty="0"/>
              <a:t>Machine learning can help identify the strongest predictors of</a:t>
            </a:r>
          </a:p>
          <a:p>
            <a:r>
              <a:rPr dirty="0"/>
              <a:t>vaccination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National 2009 H1N1 Flu Survey</a:t>
            </a:r>
          </a:p>
          <a:p>
            <a:endParaRPr/>
          </a:p>
          <a:p>
            <a:r>
              <a:t>Dataset contains:</a:t>
            </a:r>
          </a:p>
          <a:p>
            <a:r>
              <a:t>• 26,000+ individuals</a:t>
            </a:r>
          </a:p>
          <a:p>
            <a:r>
              <a:t>• Demographic characteristics</a:t>
            </a:r>
          </a:p>
          <a:p>
            <a:r>
              <a:t>• Preventive behaviors</a:t>
            </a:r>
          </a:p>
          <a:p>
            <a:r>
              <a:t>• Vaccine perceptions</a:t>
            </a:r>
          </a:p>
          <a:p>
            <a:r>
              <a:t>• Doctor recommendations</a:t>
            </a:r>
          </a:p>
          <a:p>
            <a:endParaRPr/>
          </a:p>
          <a:p>
            <a:r>
              <a:t>Target variable:</a:t>
            </a:r>
          </a:p>
          <a:p>
            <a:r>
              <a:t>Whether the respondent received the H1N1 vaccine.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Vaccination Distribution</a:t>
            </a:r>
          </a:p>
        </p:txBody>
      </p:sp>
      <p:pic>
        <p:nvPicPr>
          <p:cNvPr id="5" name="Picture 4" descr="vaccin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63296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212080"/>
            <a:ext cx="7037760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This chart shows the distribution of individuals who received the vaccine.</a:t>
            </a:r>
          </a:p>
          <a:p>
            <a:r>
              <a:rPr dirty="0"/>
              <a:t>Observation:</a:t>
            </a:r>
          </a:p>
          <a:p>
            <a:r>
              <a:rPr dirty="0"/>
              <a:t>Most individuals in the dataset did NOT receive the vaccine.</a:t>
            </a:r>
          </a:p>
          <a:p>
            <a:r>
              <a:rPr dirty="0" err="1"/>
              <a:t>mplication</a:t>
            </a:r>
            <a:r>
              <a:rPr dirty="0"/>
              <a:t>:</a:t>
            </a:r>
          </a:p>
          <a:p>
            <a:r>
              <a:rPr dirty="0"/>
              <a:t>The dataset is imbalanced, meaning the model must carefully distinguish</a:t>
            </a:r>
          </a:p>
          <a:p>
            <a:r>
              <a:rPr dirty="0"/>
              <a:t>between vaccinated and non‑vaccinated individuals rather than simply</a:t>
            </a:r>
          </a:p>
          <a:p>
            <a:r>
              <a:rPr dirty="0"/>
              <a:t>predicting the majority group.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Impact of Doctor Recommendation</a:t>
            </a:r>
          </a:p>
        </p:txBody>
      </p:sp>
      <p:pic>
        <p:nvPicPr>
          <p:cNvPr id="5" name="Picture 4" descr="doctor_recomme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63296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212080"/>
            <a:ext cx="6179769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This visualization compares vaccination rates between people</a:t>
            </a:r>
          </a:p>
          <a:p>
            <a:r>
              <a:rPr dirty="0"/>
              <a:t>who received a doctor recommendation and those who did not.</a:t>
            </a:r>
          </a:p>
          <a:p>
            <a:r>
              <a:rPr b="1" dirty="0"/>
              <a:t>Observation:</a:t>
            </a:r>
          </a:p>
          <a:p>
            <a:r>
              <a:rPr dirty="0"/>
              <a:t>Individuals whose doctors recommended the vaccine were</a:t>
            </a:r>
          </a:p>
          <a:p>
            <a:r>
              <a:rPr dirty="0"/>
              <a:t>significantly more likely to vaccinate.</a:t>
            </a:r>
          </a:p>
          <a:p>
            <a:endParaRPr dirty="0"/>
          </a:p>
          <a:p>
            <a:r>
              <a:rPr dirty="0"/>
              <a:t>Implication:</a:t>
            </a:r>
          </a:p>
          <a:p>
            <a:r>
              <a:rPr dirty="0"/>
              <a:t>Healthcare professionals play a critical role in influencing</a:t>
            </a:r>
          </a:p>
          <a:p>
            <a:r>
              <a:rPr dirty="0"/>
              <a:t>vaccination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Correlation Between Variables</a:t>
            </a:r>
          </a:p>
        </p:txBody>
      </p:sp>
      <p:pic>
        <p:nvPicPr>
          <p:cNvPr id="5" name="Picture 4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34340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212080"/>
            <a:ext cx="6016647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The correlation matrix shows relationships between variables.</a:t>
            </a:r>
          </a:p>
          <a:p>
            <a:r>
              <a:rPr b="1" dirty="0"/>
              <a:t>Observation:</a:t>
            </a:r>
          </a:p>
          <a:p>
            <a:r>
              <a:rPr dirty="0"/>
              <a:t>Most correlations are moderate rather than extremely strong.</a:t>
            </a:r>
          </a:p>
          <a:p>
            <a:r>
              <a:rPr lang="en-US" b="1" dirty="0"/>
              <a:t>I</a:t>
            </a:r>
            <a:r>
              <a:rPr b="1" dirty="0"/>
              <a:t>mplication:</a:t>
            </a:r>
          </a:p>
          <a:p>
            <a:r>
              <a:rPr dirty="0"/>
              <a:t>Vaccination behavior is influenced by multiple factors such as</a:t>
            </a:r>
          </a:p>
          <a:p>
            <a:r>
              <a:rPr dirty="0"/>
              <a:t>risk perception, vaccine beliefs, and doctor recommendations,</a:t>
            </a:r>
          </a:p>
          <a:p>
            <a:r>
              <a:rPr dirty="0"/>
              <a:t>rather than a single dominant variable.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Machine Learning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Three classification models were evaluated:</a:t>
            </a:r>
          </a:p>
          <a:p>
            <a:endParaRPr/>
          </a:p>
          <a:p>
            <a:r>
              <a:t>• Logistic Regression</a:t>
            </a:r>
          </a:p>
          <a:p>
            <a:r>
              <a:t>• Decision Tree</a:t>
            </a:r>
          </a:p>
          <a:p>
            <a:r>
              <a:t>• Random Forest</a:t>
            </a:r>
          </a:p>
          <a:p>
            <a:endParaRPr/>
          </a:p>
          <a:p>
            <a:r>
              <a:t>Evaluation metrics included:</a:t>
            </a:r>
          </a:p>
          <a:p>
            <a:r>
              <a:t>Accuracy, Precision, Recall, F1‑Score, Confusion Matrix, and ROC‑AUC.</a:t>
            </a:r>
          </a:p>
          <a:p>
            <a:endParaRPr/>
          </a:p>
          <a:p>
            <a:r>
              <a:t>Goal:</a:t>
            </a:r>
          </a:p>
          <a:p>
            <a:r>
              <a:t>Identify the model that best predicts vaccination behavior</a:t>
            </a:r>
          </a:p>
          <a:p>
            <a:r>
              <a:t>while remaining interpretable for public health stakeholders.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Confusion Matrix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63296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212080"/>
            <a:ext cx="6710748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The confusion matrix shows how well the model predicts vaccination.</a:t>
            </a:r>
          </a:p>
          <a:p>
            <a:r>
              <a:rPr b="1" dirty="0"/>
              <a:t>Observation:</a:t>
            </a:r>
          </a:p>
          <a:p>
            <a:r>
              <a:rPr dirty="0"/>
              <a:t>The model correctly identifies most individuals who did not receive</a:t>
            </a:r>
          </a:p>
          <a:p>
            <a:r>
              <a:rPr dirty="0"/>
              <a:t>the vaccine, but it is less accurate in predicting vaccinated individuals.</a:t>
            </a:r>
          </a:p>
          <a:p>
            <a:r>
              <a:rPr b="1" dirty="0"/>
              <a:t>Implication:</a:t>
            </a:r>
          </a:p>
          <a:p>
            <a:r>
              <a:rPr dirty="0"/>
              <a:t>This occurs because fewer individuals in the dataset received</a:t>
            </a:r>
          </a:p>
          <a:p>
            <a:r>
              <a:rPr dirty="0"/>
              <a:t>the vaccine, creating class imbalance.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ROC Curve (Model Performance)</a:t>
            </a:r>
          </a:p>
        </p:txBody>
      </p:sp>
      <p:pic>
        <p:nvPicPr>
          <p:cNvPr id="5" name="Picture 4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63296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212080"/>
            <a:ext cx="5508559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The ROC curve measures how well the model separates</a:t>
            </a:r>
          </a:p>
          <a:p>
            <a:r>
              <a:rPr dirty="0"/>
              <a:t>vaccinated and non‑vaccinated individuals.</a:t>
            </a:r>
          </a:p>
          <a:p>
            <a:r>
              <a:rPr b="1" dirty="0"/>
              <a:t>Observation:</a:t>
            </a:r>
          </a:p>
          <a:p>
            <a:r>
              <a:rPr dirty="0"/>
              <a:t>The curve stays well above the diagonal line,</a:t>
            </a:r>
          </a:p>
          <a:p>
            <a:r>
              <a:rPr dirty="0"/>
              <a:t>indicating strong predictive performance.</a:t>
            </a:r>
          </a:p>
          <a:p>
            <a:endParaRPr dirty="0"/>
          </a:p>
          <a:p>
            <a:r>
              <a:rPr dirty="0"/>
              <a:t>The AUC score of approximately 0.83 suggests the model</a:t>
            </a:r>
          </a:p>
          <a:p>
            <a:r>
              <a:rPr dirty="0"/>
              <a:t>can effectively distinguish between the two classes.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Predictors of Vaccination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63296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212080"/>
            <a:ext cx="6780446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Feature importance shows which variables most influence predictions.</a:t>
            </a:r>
          </a:p>
          <a:p>
            <a:r>
              <a:rPr lang="en-US" dirty="0"/>
              <a:t>T</a:t>
            </a:r>
            <a:r>
              <a:rPr dirty="0"/>
              <a:t>op predictors include:</a:t>
            </a:r>
          </a:p>
          <a:p>
            <a:r>
              <a:rPr dirty="0"/>
              <a:t>• Doctor recommendation</a:t>
            </a:r>
          </a:p>
          <a:p>
            <a:r>
              <a:rPr dirty="0"/>
              <a:t>• Perceived H1N1 risk</a:t>
            </a:r>
          </a:p>
          <a:p>
            <a:r>
              <a:rPr dirty="0"/>
              <a:t>• Belief in vaccine effectiveness</a:t>
            </a:r>
          </a:p>
          <a:p>
            <a:r>
              <a:rPr dirty="0"/>
              <a:t>• Concern about the virus</a:t>
            </a:r>
          </a:p>
          <a:p>
            <a:endParaRPr dirty="0"/>
          </a:p>
          <a:p>
            <a:r>
              <a:rPr dirty="0"/>
              <a:t>Implication:</a:t>
            </a:r>
          </a:p>
          <a:p>
            <a:r>
              <a:rPr dirty="0"/>
              <a:t>Perceptions of risk and trusted medical advice strongly influence</a:t>
            </a:r>
          </a:p>
          <a:p>
            <a:r>
              <a:rPr dirty="0"/>
              <a:t>vaccination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Doctor recommendation is the strongest driver of vaccination.</a:t>
            </a:r>
          </a:p>
          <a:p>
            <a:r>
              <a:t>2. Individuals who perceive higher risk are more likely to vaccinate.</a:t>
            </a:r>
          </a:p>
          <a:p>
            <a:r>
              <a:t>3. Healthcare workers show higher vaccination rates.</a:t>
            </a:r>
          </a:p>
          <a:p>
            <a:r>
              <a:t>4. Older populations tend to vaccinate more often.</a:t>
            </a:r>
          </a:p>
          <a:p>
            <a:endParaRPr/>
          </a:p>
          <a:p>
            <a:r>
              <a:t>These patterns highlight the importance of trust in healthcare</a:t>
            </a:r>
          </a:p>
          <a:p>
            <a:r>
              <a:t>providers and public health messaging.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Recommendations for Public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960945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- </a:t>
            </a:r>
            <a:r>
              <a:rPr dirty="0"/>
              <a:t>Encourage healthcare providers to actively recommend vaccines.</a:t>
            </a:r>
          </a:p>
          <a:p>
            <a:endParaRPr dirty="0"/>
          </a:p>
          <a:p>
            <a:r>
              <a:rPr lang="en-US" dirty="0"/>
              <a:t>- </a:t>
            </a:r>
            <a:r>
              <a:rPr dirty="0"/>
              <a:t>Increase public awareness of influenza risks.</a:t>
            </a:r>
          </a:p>
          <a:p>
            <a:endParaRPr dirty="0"/>
          </a:p>
          <a:p>
            <a:r>
              <a:rPr lang="en-US" dirty="0"/>
              <a:t>- </a:t>
            </a:r>
            <a:r>
              <a:rPr dirty="0"/>
              <a:t>Develop targeted campaigns for populations with low vaccination rates.</a:t>
            </a:r>
          </a:p>
          <a:p>
            <a:endParaRPr dirty="0"/>
          </a:p>
          <a:p>
            <a:r>
              <a:rPr lang="en-US" dirty="0"/>
              <a:t>- </a:t>
            </a:r>
            <a:r>
              <a:rPr dirty="0"/>
              <a:t>Expand workplace vaccination programs in healthcare environments.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Machine learning helps identify the key factors influencing</a:t>
            </a:r>
          </a:p>
          <a:p>
            <a:r>
              <a:t>vaccination behavior.</a:t>
            </a:r>
          </a:p>
          <a:p>
            <a:endParaRPr/>
          </a:p>
          <a:p>
            <a:r>
              <a:t>Doctor recommendation, risk perception, and vaccine beliefs</a:t>
            </a:r>
          </a:p>
          <a:p>
            <a:r>
              <a:t>were among the most important predictors.</a:t>
            </a:r>
          </a:p>
          <a:p>
            <a:endParaRPr/>
          </a:p>
          <a:p>
            <a:r>
              <a:t>These insights can help public health organizations design</a:t>
            </a:r>
          </a:p>
          <a:p>
            <a:r>
              <a:t>more effective vaccination campaigns and increase uptake.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653</Words>
  <Application>Microsoft Office PowerPoint</Application>
  <PresentationFormat>On-screen Show (4:3)</PresentationFormat>
  <Paragraphs>122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eve michelle</cp:lastModifiedBy>
  <cp:revision>2</cp:revision>
  <dcterms:created xsi:type="dcterms:W3CDTF">2013-01-27T09:14:16Z</dcterms:created>
  <dcterms:modified xsi:type="dcterms:W3CDTF">2026-03-16T23:12:22Z</dcterms:modified>
  <cp:category/>
</cp:coreProperties>
</file>